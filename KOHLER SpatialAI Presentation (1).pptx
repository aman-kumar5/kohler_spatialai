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JetBrains Mono"/>
      <p:bold r:id="rId6"/>
    </p:embeddedFont>
    <p:embeddedFont>
      <p:font typeface="Plus Jakarta Sans"/>
      <p:bold r:id="rId7"/>
      <p: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857875"/>
            <a:ext cx="11277600" cy="619125"/>
          </a:xfrm>
          <a:prstGeom prst="roundRect">
            <a:avLst>
              <a:gd name="adj" fmla="val 15384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348680"/>
            <a:ext cx="6485185" cy="4318694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67825" y="6043612"/>
            <a:ext cx="2228850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70985" y="1348680"/>
            <a:ext cx="4563814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70985" y="2796480"/>
            <a:ext cx="4563814" cy="2870894"/>
          </a:xfrm>
          <a:prstGeom prst="roundRect">
            <a:avLst>
              <a:gd name="adj" fmla="val 39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7225" y="1843980"/>
            <a:ext cx="2852142" cy="3623369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61767" y="1843980"/>
            <a:ext cx="3080742" cy="3623369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1085" y="1548705"/>
            <a:ext cx="1181100" cy="180975"/>
          </a:xfrm>
          <a:prstGeom prst="roundRect">
            <a:avLst>
              <a:gd name="adj" fmla="val 210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18385" y="1548705"/>
            <a:ext cx="1323975" cy="180975"/>
          </a:xfrm>
          <a:prstGeom prst="roundRect">
            <a:avLst>
              <a:gd name="adj" fmla="val 21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750" y="3472755"/>
            <a:ext cx="2833092" cy="19850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85592" y="5038725"/>
            <a:ext cx="2833092" cy="3048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1010" y="3598515"/>
            <a:ext cx="4163764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71010" y="3998565"/>
            <a:ext cx="4163764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71010" y="4398615"/>
            <a:ext cx="4163764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71010" y="4798665"/>
            <a:ext cx="4163764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85592" y="2177355"/>
            <a:ext cx="2833092" cy="790575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71010" y="3912840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71010" y="3598515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71010" y="3598515"/>
            <a:ext cx="28575" cy="3238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25250" y="3598515"/>
            <a:ext cx="9525" cy="323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71010" y="4312890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71010" y="3998565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71010" y="3998565"/>
            <a:ext cx="28575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525250" y="3998565"/>
            <a:ext cx="9525" cy="323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71010" y="4712940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71010" y="4398615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71010" y="4398615"/>
            <a:ext cx="28575" cy="3238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525250" y="4398615"/>
            <a:ext cx="9525" cy="323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71010" y="5112990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71010" y="4798665"/>
            <a:ext cx="4163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71010" y="4798665"/>
            <a:ext cx="28575" cy="3238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525250" y="4798665"/>
            <a:ext cx="9525" cy="323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6062662"/>
            <a:ext cx="209550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010" y="1577280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853505"/>
            <a:ext cx="2833092" cy="16192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367" y="2301180"/>
            <a:ext cx="133350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367" y="2520255"/>
            <a:ext cx="14287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0367" y="2739330"/>
            <a:ext cx="76200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382125" y="6081712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JetBrains Mono"/>
              </a:rPr>
              <a:t>AI PROPOSES → ENGINE VERIFIES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1000"/>
            <a:ext cx="802481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KOHLER SPATIAL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9600"/>
            <a:ext cx="8426053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From “Looks Good” to “Actually Fits.”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768" y="381000"/>
            <a:ext cx="2536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475569"/>
                </a:solidFill>
                <a:latin typeface="Plus Jakarta Sans"/>
              </a:rPr>
              <a:t>Spatial Product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768" y="561975"/>
            <a:ext cx="2536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64748B"/>
                </a:solidFill>
                <a:latin typeface="Plus Jakarta Sans"/>
              </a:rPr>
              <a:t>Bathroom Digital Twin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225" y="1562992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Plus Jakarta Sans"/>
              </a:rPr>
              <a:t>VISUAL VS ENGINEERING TRUTH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1010" y="1548705"/>
            <a:ext cx="4820989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The Generative AI Limitation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1010" y="1843980"/>
            <a:ext cx="425901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Traditional AI design outputs pretty images but fails in real installation. A design collapses if it collides with door swings, exceeds budget, or violates physical clearances.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1010" y="3341340"/>
            <a:ext cx="48209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Plus Jakarta Sans"/>
              </a:rPr>
              <a:t>DETERMINISTIC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8225" y="6000750"/>
            <a:ext cx="8441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Core Pitch: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225" y="6181725"/>
            <a:ext cx="8441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We are not building another AI image generator. We are building a spatial planning engine that enforces physical reality.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7285" y="1567755"/>
            <a:ext cx="112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Plus Jakarta Sans"/>
              </a:rPr>
              <a:t>Generic LLM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94585" y="1567755"/>
            <a:ext cx="126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KOHLER Spatial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050" y="3587055"/>
            <a:ext cx="325561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“Looks Good” (Unvalidated)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050" y="3777555"/>
            <a:ext cx="2699742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Ignores door swings, clearance limits, pipe connections, &amp; catalog availability.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5592" y="1967805"/>
            <a:ext cx="354136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“Actually Works” (Digital Twin)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38611" y="5124450"/>
            <a:ext cx="332705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B45309"/>
                </a:solidFill>
                <a:latin typeface="JetBrains Mono"/>
              </a:rPr>
              <a:t>SPACE + PRODUCT + BUDGET + STYLE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3885" y="3693765"/>
            <a:ext cx="419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97706"/>
                </a:solidFill>
                <a:latin typeface="JetBrains Mono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2485" y="3684240"/>
            <a:ext cx="2107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LLM Intent &amp; Style Extraction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3885" y="4093815"/>
            <a:ext cx="419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JetBrains Mono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42485" y="4084290"/>
            <a:ext cx="254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Catalog Verification &amp; SKU Lookup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13885" y="4493865"/>
            <a:ext cx="419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JetBrains Mono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42485" y="4484340"/>
            <a:ext cx="2345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Geometric Feasibility &amp; Scoring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13885" y="4893915"/>
            <a:ext cx="419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JetBrains Mono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42485" y="4884390"/>
            <a:ext cx="2333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Canonical 2D / 3D / PDF Output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90367" y="2282130"/>
            <a:ext cx="1343025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Door Clearance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32884" y="2291655"/>
            <a:ext cx="8667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VALIDATED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90367" y="2501205"/>
            <a:ext cx="1400175" cy="1428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Fixture Envelope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32859" y="2510730"/>
            <a:ext cx="10668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NO COLLISION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90367" y="2720280"/>
            <a:ext cx="1512093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Plus Jakarta Sans"/>
              </a:rPr>
              <a:t>Catalog SKU Match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8084" y="2729805"/>
            <a:ext cx="11715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100% IN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6086475"/>
            <a:ext cx="11277600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4707" y="1323975"/>
            <a:ext cx="5030092" cy="46101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44100" y="390525"/>
            <a:ext cx="1790700" cy="2190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48730"/>
            <a:ext cx="6018907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640210"/>
            <a:ext cx="6018907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3531691"/>
            <a:ext cx="6018907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4423171"/>
            <a:ext cx="6018907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5314652"/>
            <a:ext cx="6018907" cy="61912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04732" y="5276850"/>
            <a:ext cx="4630042" cy="457200"/>
          </a:xfrm>
          <a:prstGeom prst="roundRect">
            <a:avLst>
              <a:gd name="adj" fmla="val 16666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358330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48730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48730"/>
            <a:ext cx="38100" cy="6191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66582" y="1748730"/>
            <a:ext cx="9525" cy="619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33057" y="1948755"/>
            <a:ext cx="1381125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49810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640210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640210"/>
            <a:ext cx="38100" cy="619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66582" y="2640210"/>
            <a:ext cx="9525" cy="619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71132" y="2840235"/>
            <a:ext cx="1543050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141291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531691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531691"/>
            <a:ext cx="38100" cy="6191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66582" y="3531691"/>
            <a:ext cx="9525" cy="619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61607" y="3731716"/>
            <a:ext cx="1552575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032771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423171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423171"/>
            <a:ext cx="38100" cy="6191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66582" y="4423171"/>
            <a:ext cx="9525" cy="619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47307" y="4623196"/>
            <a:ext cx="1666875" cy="219075"/>
          </a:xfrm>
          <a:prstGeom prst="roundRect">
            <a:avLst>
              <a:gd name="adj" fmla="val 2608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924252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14652"/>
            <a:ext cx="601890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314652"/>
            <a:ext cx="38100" cy="61912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66582" y="5314652"/>
            <a:ext cx="9525" cy="619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685407" y="5514677"/>
            <a:ext cx="1628775" cy="219075"/>
          </a:xfrm>
          <a:prstGeom prst="roundRect">
            <a:avLst>
              <a:gd name="adj" fmla="val 2608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04732" y="1790700"/>
            <a:ext cx="4630042" cy="962025"/>
          </a:xfrm>
          <a:prstGeom prst="roundRect">
            <a:avLst>
              <a:gd name="adj" fmla="val 792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904732" y="2867025"/>
            <a:ext cx="4630042" cy="962025"/>
          </a:xfrm>
          <a:prstGeom prst="roundRect">
            <a:avLst>
              <a:gd name="adj" fmla="val 792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6229350"/>
            <a:ext cx="114300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6229350"/>
            <a:ext cx="10477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825" y="6229350"/>
            <a:ext cx="114300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6229350"/>
            <a:ext cx="104775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557" y="5400675"/>
            <a:ext cx="95250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557" y="1933575"/>
            <a:ext cx="123825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557" y="3009900"/>
            <a:ext cx="95250" cy="1238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8557" y="2138362"/>
            <a:ext cx="104775" cy="1238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8557" y="2319337"/>
            <a:ext cx="104775" cy="1238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8557" y="2500312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557" y="3214687"/>
            <a:ext cx="114300" cy="1238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557" y="3395662"/>
            <a:ext cx="114300" cy="1238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557" y="3576637"/>
            <a:ext cx="114300" cy="12382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7200" y="381000"/>
            <a:ext cx="51435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" y="6210300"/>
            <a:ext cx="1964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PRODUCTION TECH STACK: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00075"/>
            <a:ext cx="662582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 Hybrid AI + Deterministic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3150" y="428625"/>
            <a:ext cx="1657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0369A1"/>
                </a:solidFill>
                <a:latin typeface="Plus Jakarta Sans"/>
              </a:rPr>
              <a:t>Strict Boundary 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1323975"/>
            <a:ext cx="752363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LAYERED PIPELINE 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2700" y="6210300"/>
            <a:ext cx="1314450" cy="1428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 React + Three.js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6210300"/>
            <a:ext cx="1488281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 FastAPI + Pydantic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6825" y="6210300"/>
            <a:ext cx="1419225" cy="1428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Shapely + NumPy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72700" y="6210300"/>
            <a:ext cx="1702593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Gemini Structured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1872555"/>
            <a:ext cx="2876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Plus Jakarta Sans"/>
              </a:rPr>
              <a:t>LAYER 01 — EXPERIENCE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8307" y="1986855"/>
            <a:ext cx="1285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Plus Jakarta Sans"/>
              </a:rPr>
              <a:t>React • Vite • Tailwind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2764035"/>
            <a:ext cx="3219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LAYER 02 — INTELLIGENCE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66382" y="2878335"/>
            <a:ext cx="1447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Structured JSON Output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3655516"/>
            <a:ext cx="31432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97706"/>
                </a:solidFill>
                <a:latin typeface="Plus Jakarta Sans"/>
              </a:rPr>
              <a:t>LAYER 03 — VALIDATION &amp; CATALOG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6857" y="3769816"/>
            <a:ext cx="1457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SKU • Price • Dimensions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4546996"/>
            <a:ext cx="31242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LAYER 04 — SPATIAL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2557" y="4661296"/>
            <a:ext cx="1571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Shapely • NumPy • FastAPI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438477"/>
            <a:ext cx="24574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Plus Jakarta Sans"/>
              </a:rPr>
              <a:t>LAYER 05 — CANONICAL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80657" y="5552777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Plus Jakarta Sans"/>
              </a:rPr>
              <a:t>2D Canvas • 3D Twin • PDF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4732" y="1524000"/>
            <a:ext cx="528726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STRICT BOUNDARY SEPARATION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28557" y="5381625"/>
            <a:ext cx="5163442" cy="1238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Plus Jakarta Sans"/>
              </a:rPr>
              <a:t>Invariant Safeguard: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28557" y="5505450"/>
            <a:ext cx="516344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A3412"/>
                </a:solidFill>
                <a:latin typeface="Plus Jakarta Sans"/>
              </a:rPr>
              <a:t>The LLM is strictly prohibited from inventing SKUs, dimensions, or physical coordinates.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2072580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User Input (Natural Language / Room Photo)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2964060"/>
            <a:ext cx="3905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Gemini AI (Intent, Style &amp; Constraints Extraction)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3855541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Pydantic Schemas + Kohler Product Catalog DB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4747021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Deterministic Geometry, Clearances &amp; Scoring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5638502"/>
            <a:ext cx="2952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Unified DesignState Synchronization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28557" y="1914525"/>
            <a:ext cx="5163442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What the LLM Does (AI)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8557" y="2990850"/>
            <a:ext cx="5163442" cy="1524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lus Jakarta Sans"/>
              </a:rPr>
              <a:t>What the Engine Controls (Deterministic)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28557" y="2124075"/>
            <a:ext cx="5163442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Understand user intent &amp; budget constraints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28557" y="2305050"/>
            <a:ext cx="5163442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Interpret style preferences &amp; "what-if" queries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28557" y="2486025"/>
            <a:ext cx="5163442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Explain trade-offs in conversational language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28557" y="3200400"/>
            <a:ext cx="5163442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Product dimensions, SKUs &amp; exact pricing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28557" y="3381375"/>
            <a:ext cx="5163442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Spatial geometry &amp; clearance collision checks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28557" y="3562350"/>
            <a:ext cx="5163442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Mathematical multi-objective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112776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6076950"/>
            <a:ext cx="11277600" cy="40005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14425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5875"/>
            <a:ext cx="5543550" cy="2047875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1285875"/>
            <a:ext cx="5543550" cy="2047875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3524250"/>
            <a:ext cx="5543550" cy="2400300"/>
          </a:xfrm>
          <a:prstGeom prst="roundRect">
            <a:avLst>
              <a:gd name="adj" fmla="val 39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3524250"/>
            <a:ext cx="5543550" cy="2400300"/>
          </a:xfrm>
          <a:prstGeom prst="roundRect">
            <a:avLst>
              <a:gd name="adj" fmla="val 39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8175" y="2857500"/>
            <a:ext cx="5181600" cy="295275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2225" y="2838450"/>
            <a:ext cx="5181600" cy="31432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225" y="5438775"/>
            <a:ext cx="51816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91075" y="1476375"/>
            <a:ext cx="1028700" cy="161925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96575" y="1476375"/>
            <a:ext cx="857250" cy="161925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91075" y="3714750"/>
            <a:ext cx="1028700" cy="161925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25175" y="3714750"/>
            <a:ext cx="628650" cy="161925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6219825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563" y="2957512"/>
            <a:ext cx="57150" cy="95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389" y="2957512"/>
            <a:ext cx="57150" cy="95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316" y="2957512"/>
            <a:ext cx="57150" cy="95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2943225"/>
            <a:ext cx="13335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425" y="2943225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50" y="2943225"/>
            <a:ext cx="114300" cy="114300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38175" y="4914900"/>
          <a:ext cx="5181598" cy="828675"/>
        </p:xfrm>
        <a:graphic>
          <a:graphicData uri="http://schemas.openxmlformats.org/drawingml/2006/table">
            <a:tbl>
              <a:tblPr/>
              <a:tblGrid>
                <a:gridCol w="1353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168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Smart Budget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Balanced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68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Spatial 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168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Budget 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171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Style Match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7C3AED"/>
                          </a:solidFill>
                          <a:latin typeface="Plus Jakarta Sans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381000"/>
            <a:ext cx="7067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ENGINEERING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6200775"/>
            <a:ext cx="2821781" cy="15240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Plus Jakarta Sans"/>
              </a:rPr>
              <a:t>Comprehensive Automated Suite: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0075"/>
            <a:ext cx="91511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Where Technical Execution Is the Differentiator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6205537"/>
            <a:ext cx="1314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✓ Fixture Overlaps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9075" y="6205537"/>
            <a:ext cx="1247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✓ Door Collisions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0" y="6205537"/>
            <a:ext cx="1595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✓ Budget Enforcement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0" y="6205537"/>
            <a:ext cx="1440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✓ Rotation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" y="1724025"/>
            <a:ext cx="5276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Validates complete installation envelopes against boundaries, clearances, and plumbing wet-zones.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2943225"/>
            <a:ext cx="8286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Candidate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0401" y="2943225"/>
            <a:ext cx="7810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228" y="2943225"/>
            <a:ext cx="8191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Clearance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8154" y="2943225"/>
            <a:ext cx="762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FEASIBLE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1724025"/>
            <a:ext cx="5819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One </a:t>
            </a:r>
            <a:r>
              <a:rPr sz="900" b="1" i="0" u="none">
                <a:solidFill>
                  <a:srgbClr val="0284C7"/>
                </a:solidFill>
                <a:latin typeface="Plus Jakarta Sans"/>
              </a:rPr>
              <a:t>DesignState</a:t>
            </a:r>
            <a:r>
              <a:rPr sz="900" b="0" i="0" u="none">
                <a:solidFill>
                  <a:srgbClr val="475569"/>
                </a:solidFill>
                <a:latin typeface="Plus Jakarta Sans"/>
              </a:rPr>
              <a:t> drives 2D canvas, 3D viewport, and PDF exports without visual drift.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7950" y="2924175"/>
            <a:ext cx="1038225" cy="1428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2D Layout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0425" y="2924175"/>
            <a:ext cx="1019175" cy="1428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3D Render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43850" y="2924175"/>
            <a:ext cx="990600" cy="1428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PDF Spec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75" y="3962400"/>
            <a:ext cx="6477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Dynamic weighting based on user priorities: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225" y="3962400"/>
            <a:ext cx="5819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Multi-key API failover + offline deterministic parser. System degrades functionality, never truth.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6050" y="5529262"/>
            <a:ext cx="15716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Gemini Failover Strategy: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6875" y="5524500"/>
            <a:ext cx="2678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JetBrains Mono"/>
              </a:rPr>
              <a:t>Key 1 → Key 2 → Fallback Parser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75" y="1466850"/>
            <a:ext cx="1928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Envelope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8225" y="1495425"/>
            <a:ext cx="10096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475569"/>
                </a:solidFill>
                <a:latin typeface="JetBrains Mono"/>
              </a:rPr>
              <a:t>SPATIAL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5" y="1466850"/>
            <a:ext cx="2155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Canonical Digital Twin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53725" y="1495425"/>
            <a:ext cx="838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475569"/>
                </a:solidFill>
                <a:latin typeface="JetBrains Mono"/>
              </a:rPr>
              <a:t>SINGLE SOURCE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175" y="3705225"/>
            <a:ext cx="2369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Multi-Objective Scoring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8225" y="3733800"/>
            <a:ext cx="10096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475569"/>
                </a:solidFill>
                <a:latin typeface="JetBrains Mono"/>
              </a:rPr>
              <a:t>TRADE-OFF MATRIX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2225" y="3705225"/>
            <a:ext cx="2547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4. Deterministic Degradation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82325" y="3733800"/>
            <a:ext cx="6096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DC2626"/>
                </a:solidFill>
                <a:latin typeface="JetBrains Mono"/>
              </a:rPr>
              <a:t>FAIL-SAFE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600700"/>
            <a:ext cx="11277600" cy="876300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323975"/>
            <a:ext cx="2705100" cy="3381375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14700" y="1323975"/>
            <a:ext cx="2705100" cy="3381375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323975"/>
            <a:ext cx="2705100" cy="3381375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29700" y="1323975"/>
            <a:ext cx="2705100" cy="3381375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4895850"/>
            <a:ext cx="5562600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4895850"/>
            <a:ext cx="5562600" cy="514350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86950" y="381000"/>
            <a:ext cx="1847850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125" y="4314825"/>
            <a:ext cx="238125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6625" y="4314825"/>
            <a:ext cx="238125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34125" y="4314825"/>
            <a:ext cx="238125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91625" y="4314825"/>
            <a:ext cx="238125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067300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5067300"/>
            <a:ext cx="1905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81000"/>
            <a:ext cx="6362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Plus Jakarta Sans"/>
              </a:rPr>
              <a:t>INNOVATION &amp;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45281" y="5810250"/>
            <a:ext cx="128825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“Most AI design tools tell you what looks good. KOHLER SpatialAI checks whether it can actually work.”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45281" y="6105525"/>
            <a:ext cx="12882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B45309"/>
                </a:solidFill>
                <a:latin typeface="JetBrains Mono"/>
              </a:rPr>
              <a:t>AI PROPOSES. ENGINEERING VERIFIES. THE CUSTOMER DECIDES.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0075"/>
            <a:ext cx="822602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Why KOHLER SpatialAI Redefines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419100"/>
            <a:ext cx="1714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92400E"/>
                </a:solidFill>
                <a:latin typeface="Plus Jakarta Sans"/>
              </a:rPr>
              <a:t>Human-in-the-Loop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1485900"/>
            <a:ext cx="2476500" cy="9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Plus Jakarta San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6625" y="1485900"/>
            <a:ext cx="2476500" cy="834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1485900"/>
            <a:ext cx="2476500" cy="9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Plus Jakarta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1625" y="1485900"/>
            <a:ext cx="2476500" cy="834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Plus Jakarta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" y="1743075"/>
            <a:ext cx="31253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Conversational 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" y="2000250"/>
            <a:ext cx="24765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Users say: </a:t>
            </a:r>
            <a:r>
              <a:rPr sz="900" b="0" i="1" u="none">
                <a:solidFill>
                  <a:srgbClr val="475569"/>
                </a:solidFill>
                <a:latin typeface="Plus Jakarta Sans"/>
              </a:rPr>
              <a:t>“Make it premium under ₹2 Lakh.”</a:t>
            </a:r>
            <a:r>
              <a:rPr sz="900" b="0" i="0" u="none">
                <a:solidFill>
                  <a:srgbClr val="475569"/>
                </a:solidFill>
                <a:latin typeface="Plus Jakarta Sans"/>
              </a:rPr>
              <a:t> AI extracts constraints without CAD complexity.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75" y="4371975"/>
            <a:ext cx="2738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B45309"/>
                </a:solidFill>
                <a:latin typeface="Plus Jakarta Sans"/>
              </a:rPr>
              <a:t>Zero CAD knowledge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6625" y="1743075"/>
            <a:ext cx="31253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Catalog Grounded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6625" y="2000250"/>
            <a:ext cx="24765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Operates on real Kohler SKUs, dimensions, and prices. Zero hallucinated items.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1875" y="4371975"/>
            <a:ext cx="2738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284C7"/>
                </a:solidFill>
                <a:latin typeface="Plus Jakarta Sans"/>
              </a:rPr>
              <a:t>100% Real Kohler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4125" y="1743075"/>
            <a:ext cx="31253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Validated Twin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4125" y="2000250"/>
            <a:ext cx="24765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Generates exact 2D, 3D, and PDF specs explaining where, why, and how every item fits.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4371975"/>
            <a:ext cx="2738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59669"/>
                </a:solidFill>
                <a:latin typeface="Plus Jakarta Sans"/>
              </a:rPr>
              <a:t>Feasibility guaranteed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625" y="1743075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User In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1625" y="2000250"/>
            <a:ext cx="24765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Copilot proposes validated changes. User accepts or discards every recommendation.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6875" y="4371975"/>
            <a:ext cx="27384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C3AED"/>
                </a:solidFill>
                <a:latin typeface="Plus Jakarta Sans"/>
              </a:rPr>
              <a:t>Accept / Discard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5019675"/>
            <a:ext cx="5226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For Customers: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" y="5162550"/>
            <a:ext cx="522684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Zero uncertainty before purchase • Budget-aware planning • Faster design iterations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925" y="5019675"/>
            <a:ext cx="5214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For KOHLER: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925" y="5162550"/>
            <a:ext cx="5214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Conversational discovery • Higher conversion • Reduced return rate due to fit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672</Words>
  <Application>Microsoft Office PowerPoint</Application>
  <PresentationFormat>Widescreen</PresentationFormat>
  <Paragraphs>135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JetBrains Mono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kumar</cp:lastModifiedBy>
  <cp:revision>2</cp:revision>
  <dcterms:created xsi:type="dcterms:W3CDTF">2013-01-27T09:14:16Z</dcterms:created>
  <dcterms:modified xsi:type="dcterms:W3CDTF">2026-09-20T07:46:01Z</dcterms:modified>
  <cp:category/>
</cp:coreProperties>
</file>